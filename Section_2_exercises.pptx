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notesMasterIdLst>
    <p:notesMasterId r:id="rId6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P_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9000" y="5715000"/>
            <a:ext cx="889000" cy="889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P_BACKGROUND_ONLY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-294286" y="5466"/>
            <a:ext cx="12827671" cy="68764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07252" y="4664026"/>
            <a:ext cx="7011880" cy="1620275"/>
          </a:xfrm>
          <a:prstGeom prst="roundRect">
            <a:avLst>
              <a:gd name="adj" fmla="val 13123"/>
            </a:avLst>
          </a:prstGeom>
          <a:solidFill>
            <a:srgbClr val="B6D8FB">
              <a:alpha val="84000"/>
            </a:srgbClr>
          </a:solidFill>
          <a:ln w="57150">
            <a:solidFill>
              <a:srgbClr val="6366F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Section 2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82" y="3052260"/>
            <a:ext cx="12194004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Welcome back!</a:t>
            </a:r>
            <a:endParaRPr lang="en-US"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397000"/>
            <a:ext cx="9906000" cy="4064000"/>
          </a:xfrm>
          <a:prstGeom prst="rect">
            <a:avLst/>
          </a:prstGeom>
          <a:ln w="12700">
            <a:solidFill>
              <a:srgbClr val="80808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 Card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runs on the web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794000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51000" y="1778000"/>
            <a:ext cx="2667000" cy="266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26000" y="2413000"/>
            <a:ext cx="635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important thing to know about a random variable: </a:t>
            </a:r>
            <a:pPr indent="0" marL="0">
              <a:buNone/>
            </a:pPr>
            <a:r>
              <a:rPr lang="en-US" sz="4000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its bars</a:t>
            </a:r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540000" y="5715000"/>
            <a:ext cx="762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bar per value, as tall as its chance. They add up to 1. (Officially: the probability mass function, PMF.)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10795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Review: two random variables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98500" y="1587500"/>
            <a:ext cx="5207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Bernoulli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6334" y="2294665"/>
            <a:ext cx="1871332" cy="5541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8500" y="3175000"/>
            <a:ext cx="520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trial. 1 if it happens, 0 if not.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is the chance it happens.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the penalty kick go in?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286500" y="1587500"/>
            <a:ext cx="5207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Binomial</a:t>
            </a:r>
            <a:endParaRPr lang="en-US" sz="2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684" y="2294665"/>
            <a:ext cx="2256631" cy="5541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86500" y="3175000"/>
            <a:ext cx="520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 of successes in n independent trials, each with chance p.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Average: n × p.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Heads in 10 flips: Bin(10, ½).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51000" y="1778000"/>
            <a:ext cx="2667000" cy="266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26000" y="2413000"/>
            <a:ext cx="635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probabilistic model is </a:t>
            </a:r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indent="0" marL="0">
              <a:buNone/>
            </a:pPr>
            <a:r>
              <a:rPr lang="en-US" sz="4000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story </a:t>
            </a:r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</a:t>
            </a:r>
            <a:pPr indent="0" marL="0">
              <a:buNone/>
            </a:pPr>
            <a:r>
              <a:rPr lang="en-US" sz="4000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buNone/>
            </a:pPr>
            <a:r>
              <a:rPr lang="en-US" sz="4000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variables </a:t>
            </a:r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</a:t>
            </a:r>
            <a:pPr indent="0" marL="0">
              <a:buNone/>
            </a:pPr>
            <a:r>
              <a:rPr lang="en-US" sz="4000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makes data</a:t>
            </a:r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540000" y="5715000"/>
            <a:ext cx="762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it to make fake data. Count to answer questions. Multiply along the story for the chance of one outcome.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540000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Let’s play a game...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016000" y="3556000"/>
            <a:ext cx="1016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Bernoulli, Binomial, or Neither?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7050" y="190500"/>
            <a:ext cx="825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7050" y="603250"/>
            <a:ext cx="825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favorite sports team plays 5 games.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27050" y="1365250"/>
            <a:ext cx="7937500" cy="2857500"/>
          </a:xfrm>
          <a:prstGeom prst="roundRect">
            <a:avLst>
              <a:gd name="adj" fmla="val 3413"/>
            </a:avLst>
          </a:prstGeom>
          <a:solidFill>
            <a:srgbClr val="000000"/>
          </a:solidFill>
          <a:ln w="31750">
            <a:solidFill>
              <a:srgbClr val="75CE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84899" y="2218095"/>
            <a:ext cx="300990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 how many wins?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7050" y="4349750"/>
            <a:ext cx="7937500" cy="2254250"/>
          </a:xfrm>
          <a:prstGeom prst="rect">
            <a:avLst/>
          </a:prstGeom>
          <a:ln w="12700">
            <a:solidFill>
              <a:srgbClr val="80808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Editable Demo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runs on the web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80500" y="1968500"/>
            <a:ext cx="29845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Bernoulli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trial: 1 if it happens, 0 if not.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\textcolor{#75cefa}{X} \sim \text{Ber}(p)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Binomial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 of successes in n independent trials.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\textcolor{#75cefa}{X} \sim \text{Bin}(n, p)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Neither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other random variable: not a yes-or-no trial, and not a count of successes.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827" y="2176523"/>
            <a:ext cx="1094573" cy="530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1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4168167" y="2176523"/>
            <a:ext cx="1094573" cy="530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3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2513997" y="2176523"/>
            <a:ext cx="1094573" cy="530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2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3341082" y="3496506"/>
            <a:ext cx="1094573" cy="530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5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686912" y="3496506"/>
            <a:ext cx="1094573" cy="530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4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65306" y="1589756"/>
            <a:ext cx="1252107" cy="504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EE787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393279" y="1589756"/>
            <a:ext cx="1252107" cy="504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EE787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WIN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243965" y="2959625"/>
            <a:ext cx="1252107" cy="504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EE787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WIN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616109" y="2959625"/>
            <a:ext cx="1252107" cy="504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LOSS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089517" y="1589756"/>
            <a:ext cx="1252107" cy="504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LOSS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7050" y="190500"/>
            <a:ext cx="825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7050" y="603250"/>
            <a:ext cx="825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Weather forecast for tomorrow.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27050" y="1365250"/>
            <a:ext cx="7937500" cy="2857500"/>
          </a:xfrm>
          <a:prstGeom prst="roundRect">
            <a:avLst>
              <a:gd name="adj" fmla="val 3413"/>
            </a:avLst>
          </a:prstGeom>
          <a:solidFill>
            <a:srgbClr val="000000"/>
          </a:solidFill>
          <a:ln w="31750">
            <a:solidFill>
              <a:srgbClr val="75CE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2250" y="2470150"/>
            <a:ext cx="300990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 does it rain?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7050" y="4349750"/>
            <a:ext cx="7937500" cy="2254250"/>
          </a:xfrm>
          <a:prstGeom prst="rect">
            <a:avLst/>
          </a:prstGeom>
          <a:ln w="12700">
            <a:solidFill>
              <a:srgbClr val="80808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Editable Demo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runs on the web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80500" y="1968500"/>
            <a:ext cx="29845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Bernoulli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trial: 1 if it happens, 0 if not.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\textcolor{#75cefa}{X} \sim \text{Ber}(p)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Binomial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 of successes in n independent trials.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\textcolor{#75cefa}{X} \sim \text{Bin}(n, p)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Neither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other random variable: not a yes-or-no trial, and not a count of successes.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936" y="1616339"/>
            <a:ext cx="3554917" cy="2369945"/>
          </a:xfrm>
          <a:prstGeom prst="rect">
            <a:avLst/>
          </a:prstGeom>
          <a:ln w="12700">
            <a:solidFill>
              <a:srgbClr val="80808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Editable Demo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runs on the web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7050" y="190500"/>
            <a:ext cx="825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Tricky ones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7050" y="603250"/>
            <a:ext cx="825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have 30 classmates.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27050" y="1365250"/>
            <a:ext cx="7937500" cy="2857500"/>
          </a:xfrm>
          <a:prstGeom prst="roundRect">
            <a:avLst>
              <a:gd name="adj" fmla="val 3413"/>
            </a:avLst>
          </a:prstGeom>
          <a:solidFill>
            <a:srgbClr val="000000"/>
          </a:solidFill>
          <a:ln w="31750">
            <a:solidFill>
              <a:srgbClr val="75CEF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9450" y="1638300"/>
            <a:ext cx="4445000" cy="2311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2250" y="2235200"/>
            <a:ext cx="30099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 how many share your birthday?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27050" y="4349750"/>
            <a:ext cx="7937500" cy="2254250"/>
          </a:xfrm>
          <a:prstGeom prst="rect">
            <a:avLst/>
          </a:prstGeom>
          <a:ln w="12700">
            <a:solidFill>
              <a:srgbClr val="80808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Editable Demo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runs on the web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080500" y="1968500"/>
            <a:ext cx="29845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Bernoulli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trial: 1 if it happens, 0 if not.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\textcolor{#75cefa}{X} \sim \text{Ber}(p)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Binomial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 of successes in n independent trials.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\textcolor{#75cefa}{X} \sim \text{Bin}(n, p)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Neither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other random variable: not a yes-or-no trial, and not a count of successes.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7050" y="6629400"/>
            <a:ext cx="1016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 via Wikimedia Commons: Francesca Cesa Bianchi (CC BY-SA 3.0 IT)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7050" y="190500"/>
            <a:ext cx="825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Tricky ones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7050" y="603250"/>
            <a:ext cx="825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ask a chatbot a question.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27050" y="1365250"/>
            <a:ext cx="7937500" cy="2857500"/>
          </a:xfrm>
          <a:prstGeom prst="roundRect">
            <a:avLst>
              <a:gd name="adj" fmla="val 3413"/>
            </a:avLst>
          </a:prstGeom>
          <a:solidFill>
            <a:srgbClr val="000000"/>
          </a:solidFill>
          <a:ln w="31750">
            <a:solidFill>
              <a:srgbClr val="75CEF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9450" y="1638300"/>
            <a:ext cx="4445000" cy="2311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2250" y="2006600"/>
            <a:ext cx="3009900" cy="157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 does its reply start with “Great question!”?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27050" y="4349750"/>
            <a:ext cx="7937500" cy="2254250"/>
          </a:xfrm>
          <a:prstGeom prst="rect">
            <a:avLst/>
          </a:prstGeom>
          <a:ln w="12700">
            <a:solidFill>
              <a:srgbClr val="80808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Editable Demo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runs on the web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080500" y="1968500"/>
            <a:ext cx="29845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Bernoulli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trial: 1 if it happens, 0 if not.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\textcolor{#75cefa}{X} \sim \text{Ber}(p)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Binomial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 of successes in n independent trials.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\textcolor{#75cefa}{X} \sim \text{Bin}(n, p)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Neither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other random variable: not a yes-or-no trial, and not a count of successes.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7050" y="190500"/>
            <a:ext cx="825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Tricky ones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7050" y="603250"/>
            <a:ext cx="825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 one die.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27050" y="1365250"/>
            <a:ext cx="7937500" cy="2857500"/>
          </a:xfrm>
          <a:prstGeom prst="roundRect">
            <a:avLst>
              <a:gd name="adj" fmla="val 3413"/>
            </a:avLst>
          </a:prstGeom>
          <a:solidFill>
            <a:srgbClr val="000000"/>
          </a:solidFill>
          <a:ln w="31750">
            <a:solidFill>
              <a:srgbClr val="75CEF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9450" y="1638300"/>
            <a:ext cx="4445000" cy="2311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2250" y="2470150"/>
            <a:ext cx="300990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 the number it shows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27050" y="4349750"/>
            <a:ext cx="7937500" cy="2254250"/>
          </a:xfrm>
          <a:prstGeom prst="rect">
            <a:avLst/>
          </a:prstGeom>
          <a:ln w="12700">
            <a:solidFill>
              <a:srgbClr val="80808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Editable Demo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runs on the web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080500" y="1968500"/>
            <a:ext cx="29845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Bernoulli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trial: 1 if it happens, 0 if not.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\textcolor{#75cefa}{X} \sim \text{Ber}(p)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Binomial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 of successes in n independent trials.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\textcolor{#75cefa}{X} \sim \text{Bin}(n, p)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Neither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other random variable: not a yes-or-no trial, and not a count of successes.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7050" y="6629400"/>
            <a:ext cx="1016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drawn for this deck.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794000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Review</a:t>
            </a:r>
            <a:endParaRPr lang="en-US" sz="4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2859" y="1225897"/>
            <a:ext cx="6648066" cy="49201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2337" y="496473"/>
            <a:ext cx="4534557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This is Emperor Palpatine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132658" y="1212564"/>
            <a:ext cx="490864" cy="842445"/>
          </a:xfrm>
          <a:custGeom>
            <a:avLst/>
            <a:gdLst/>
            <a:ahLst/>
            <a:cxnLst/>
            <a:rect l="l" t="t" r="r" b="b"/>
            <a:pathLst>
              <a:path w="490864" h="842445">
                <a:moveTo>
                  <a:pt x="253317" y="0"/>
                </a:moveTo>
                <a:lnTo>
                  <a:pt x="253317" y="1258"/>
                </a:lnTo>
                <a:lnTo>
                  <a:pt x="253317" y="23906"/>
                </a:lnTo>
                <a:lnTo>
                  <a:pt x="253317" y="91764"/>
                </a:lnTo>
                <a:lnTo>
                  <a:pt x="253317" y="187387"/>
                </a:lnTo>
                <a:lnTo>
                  <a:pt x="253317" y="299450"/>
                </a:lnTo>
                <a:lnTo>
                  <a:pt x="253317" y="409794"/>
                </a:lnTo>
                <a:lnTo>
                  <a:pt x="253317" y="496609"/>
                </a:lnTo>
                <a:lnTo>
                  <a:pt x="253317" y="560232"/>
                </a:lnTo>
                <a:lnTo>
                  <a:pt x="255288" y="660594"/>
                </a:lnTo>
                <a:lnTo>
                  <a:pt x="260614" y="696369"/>
                </a:lnTo>
                <a:lnTo>
                  <a:pt x="265773" y="728620"/>
                </a:lnTo>
                <a:lnTo>
                  <a:pt x="270387" y="760747"/>
                </a:lnTo>
                <a:lnTo>
                  <a:pt x="279613" y="804406"/>
                </a:lnTo>
                <a:lnTo>
                  <a:pt x="283303" y="816191"/>
                </a:lnTo>
                <a:lnTo>
                  <a:pt x="283765" y="822524"/>
                </a:lnTo>
                <a:lnTo>
                  <a:pt x="283765" y="825544"/>
                </a:lnTo>
                <a:lnTo>
                  <a:pt x="283765" y="827724"/>
                </a:lnTo>
                <a:lnTo>
                  <a:pt x="283765" y="827808"/>
                </a:lnTo>
                <a:lnTo>
                  <a:pt x="285065" y="824369"/>
                </a:lnTo>
                <a:lnTo>
                  <a:pt x="292824" y="808055"/>
                </a:lnTo>
                <a:lnTo>
                  <a:pt x="317359" y="767457"/>
                </a:lnTo>
                <a:lnTo>
                  <a:pt x="358963" y="709747"/>
                </a:lnTo>
                <a:lnTo>
                  <a:pt x="399057" y="650235"/>
                </a:lnTo>
                <a:lnTo>
                  <a:pt x="432400" y="590932"/>
                </a:lnTo>
                <a:lnTo>
                  <a:pt x="459367" y="540017"/>
                </a:lnTo>
                <a:lnTo>
                  <a:pt x="474591" y="509569"/>
                </a:lnTo>
                <a:lnTo>
                  <a:pt x="482727" y="493422"/>
                </a:lnTo>
                <a:lnTo>
                  <a:pt x="488389" y="485957"/>
                </a:lnTo>
                <a:lnTo>
                  <a:pt x="490864" y="484699"/>
                </a:lnTo>
                <a:lnTo>
                  <a:pt x="489018" y="491786"/>
                </a:lnTo>
                <a:lnTo>
                  <a:pt x="476143" y="516279"/>
                </a:lnTo>
                <a:lnTo>
                  <a:pt x="452489" y="556332"/>
                </a:lnTo>
                <a:lnTo>
                  <a:pt x="424599" y="605443"/>
                </a:lnTo>
                <a:lnTo>
                  <a:pt x="392222" y="663530"/>
                </a:lnTo>
                <a:lnTo>
                  <a:pt x="365380" y="711467"/>
                </a:lnTo>
                <a:lnTo>
                  <a:pt x="343319" y="748416"/>
                </a:lnTo>
                <a:lnTo>
                  <a:pt x="321301" y="784275"/>
                </a:lnTo>
                <a:lnTo>
                  <a:pt x="302386" y="810781"/>
                </a:lnTo>
                <a:lnTo>
                  <a:pt x="288546" y="827976"/>
                </a:lnTo>
                <a:lnTo>
                  <a:pt x="279277" y="837161"/>
                </a:lnTo>
                <a:lnTo>
                  <a:pt x="273616" y="840558"/>
                </a:lnTo>
                <a:lnTo>
                  <a:pt x="269883" y="841690"/>
                </a:lnTo>
                <a:lnTo>
                  <a:pt x="266528" y="842445"/>
                </a:lnTo>
                <a:lnTo>
                  <a:pt x="264263" y="842445"/>
                </a:lnTo>
                <a:lnTo>
                  <a:pt x="259063" y="840139"/>
                </a:lnTo>
                <a:lnTo>
                  <a:pt x="249039" y="833135"/>
                </a:lnTo>
                <a:lnTo>
                  <a:pt x="234444" y="825166"/>
                </a:lnTo>
                <a:lnTo>
                  <a:pt x="214103" y="815226"/>
                </a:lnTo>
                <a:lnTo>
                  <a:pt x="186717" y="799038"/>
                </a:lnTo>
                <a:lnTo>
                  <a:pt x="155471" y="777564"/>
                </a:lnTo>
                <a:lnTo>
                  <a:pt x="126490" y="754497"/>
                </a:lnTo>
                <a:lnTo>
                  <a:pt x="99817" y="726104"/>
                </a:lnTo>
                <a:lnTo>
                  <a:pt x="75743" y="690497"/>
                </a:lnTo>
                <a:lnTo>
                  <a:pt x="59722" y="654597"/>
                </a:lnTo>
                <a:lnTo>
                  <a:pt x="50496" y="624148"/>
                </a:lnTo>
                <a:lnTo>
                  <a:pt x="43702" y="599572"/>
                </a:lnTo>
                <a:lnTo>
                  <a:pt x="36949" y="580992"/>
                </a:lnTo>
                <a:lnTo>
                  <a:pt x="29484" y="566439"/>
                </a:lnTo>
                <a:lnTo>
                  <a:pt x="19963" y="552473"/>
                </a:lnTo>
                <a:lnTo>
                  <a:pt x="11282" y="541527"/>
                </a:lnTo>
                <a:lnTo>
                  <a:pt x="5327" y="533223"/>
                </a:lnTo>
                <a:lnTo>
                  <a:pt x="1762" y="527561"/>
                </a:lnTo>
                <a:lnTo>
                  <a:pt x="0" y="525590"/>
                </a:lnTo>
              </a:path>
            </a:pathLst>
          </a:custGeom>
          <a:ln w="381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2859" y="1225897"/>
            <a:ext cx="6648066" cy="49201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2337" y="496473"/>
            <a:ext cx="4534557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This is Emperor Palpatine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7394975" y="1901992"/>
            <a:ext cx="3238364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He’s a bad guy in the Star Wars universe. 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132658" y="1212564"/>
            <a:ext cx="490864" cy="842445"/>
          </a:xfrm>
          <a:custGeom>
            <a:avLst/>
            <a:gdLst/>
            <a:ahLst/>
            <a:cxnLst/>
            <a:rect l="l" t="t" r="r" b="b"/>
            <a:pathLst>
              <a:path w="490864" h="842445">
                <a:moveTo>
                  <a:pt x="253317" y="0"/>
                </a:moveTo>
                <a:lnTo>
                  <a:pt x="253317" y="1258"/>
                </a:lnTo>
                <a:lnTo>
                  <a:pt x="253317" y="23906"/>
                </a:lnTo>
                <a:lnTo>
                  <a:pt x="253317" y="91764"/>
                </a:lnTo>
                <a:lnTo>
                  <a:pt x="253317" y="187387"/>
                </a:lnTo>
                <a:lnTo>
                  <a:pt x="253317" y="299450"/>
                </a:lnTo>
                <a:lnTo>
                  <a:pt x="253317" y="409794"/>
                </a:lnTo>
                <a:lnTo>
                  <a:pt x="253317" y="496609"/>
                </a:lnTo>
                <a:lnTo>
                  <a:pt x="253317" y="560232"/>
                </a:lnTo>
                <a:lnTo>
                  <a:pt x="255288" y="660594"/>
                </a:lnTo>
                <a:lnTo>
                  <a:pt x="260614" y="696369"/>
                </a:lnTo>
                <a:lnTo>
                  <a:pt x="265773" y="728620"/>
                </a:lnTo>
                <a:lnTo>
                  <a:pt x="270387" y="760747"/>
                </a:lnTo>
                <a:lnTo>
                  <a:pt x="279613" y="804406"/>
                </a:lnTo>
                <a:lnTo>
                  <a:pt x="283303" y="816191"/>
                </a:lnTo>
                <a:lnTo>
                  <a:pt x="283765" y="822524"/>
                </a:lnTo>
                <a:lnTo>
                  <a:pt x="283765" y="825544"/>
                </a:lnTo>
                <a:lnTo>
                  <a:pt x="283765" y="827724"/>
                </a:lnTo>
                <a:lnTo>
                  <a:pt x="283765" y="827808"/>
                </a:lnTo>
                <a:lnTo>
                  <a:pt x="285065" y="824369"/>
                </a:lnTo>
                <a:lnTo>
                  <a:pt x="292824" y="808055"/>
                </a:lnTo>
                <a:lnTo>
                  <a:pt x="317359" y="767457"/>
                </a:lnTo>
                <a:lnTo>
                  <a:pt x="358963" y="709747"/>
                </a:lnTo>
                <a:lnTo>
                  <a:pt x="399057" y="650235"/>
                </a:lnTo>
                <a:lnTo>
                  <a:pt x="432400" y="590932"/>
                </a:lnTo>
                <a:lnTo>
                  <a:pt x="459367" y="540017"/>
                </a:lnTo>
                <a:lnTo>
                  <a:pt x="474591" y="509569"/>
                </a:lnTo>
                <a:lnTo>
                  <a:pt x="482727" y="493422"/>
                </a:lnTo>
                <a:lnTo>
                  <a:pt x="488389" y="485957"/>
                </a:lnTo>
                <a:lnTo>
                  <a:pt x="490864" y="484699"/>
                </a:lnTo>
                <a:lnTo>
                  <a:pt x="489018" y="491786"/>
                </a:lnTo>
                <a:lnTo>
                  <a:pt x="476143" y="516279"/>
                </a:lnTo>
                <a:lnTo>
                  <a:pt x="452489" y="556332"/>
                </a:lnTo>
                <a:lnTo>
                  <a:pt x="424599" y="605443"/>
                </a:lnTo>
                <a:lnTo>
                  <a:pt x="392222" y="663530"/>
                </a:lnTo>
                <a:lnTo>
                  <a:pt x="365380" y="711467"/>
                </a:lnTo>
                <a:lnTo>
                  <a:pt x="343319" y="748416"/>
                </a:lnTo>
                <a:lnTo>
                  <a:pt x="321301" y="784275"/>
                </a:lnTo>
                <a:lnTo>
                  <a:pt x="302386" y="810781"/>
                </a:lnTo>
                <a:lnTo>
                  <a:pt x="288546" y="827976"/>
                </a:lnTo>
                <a:lnTo>
                  <a:pt x="279277" y="837161"/>
                </a:lnTo>
                <a:lnTo>
                  <a:pt x="273616" y="840558"/>
                </a:lnTo>
                <a:lnTo>
                  <a:pt x="269883" y="841690"/>
                </a:lnTo>
                <a:lnTo>
                  <a:pt x="266528" y="842445"/>
                </a:lnTo>
                <a:lnTo>
                  <a:pt x="264263" y="842445"/>
                </a:lnTo>
                <a:lnTo>
                  <a:pt x="259063" y="840139"/>
                </a:lnTo>
                <a:lnTo>
                  <a:pt x="249039" y="833135"/>
                </a:lnTo>
                <a:lnTo>
                  <a:pt x="234444" y="825166"/>
                </a:lnTo>
                <a:lnTo>
                  <a:pt x="214103" y="815226"/>
                </a:lnTo>
                <a:lnTo>
                  <a:pt x="186717" y="799038"/>
                </a:lnTo>
                <a:lnTo>
                  <a:pt x="155471" y="777564"/>
                </a:lnTo>
                <a:lnTo>
                  <a:pt x="126490" y="754497"/>
                </a:lnTo>
                <a:lnTo>
                  <a:pt x="99817" y="726104"/>
                </a:lnTo>
                <a:lnTo>
                  <a:pt x="75743" y="690497"/>
                </a:lnTo>
                <a:lnTo>
                  <a:pt x="59722" y="654597"/>
                </a:lnTo>
                <a:lnTo>
                  <a:pt x="50496" y="624148"/>
                </a:lnTo>
                <a:lnTo>
                  <a:pt x="43702" y="599572"/>
                </a:lnTo>
                <a:lnTo>
                  <a:pt x="36949" y="580992"/>
                </a:lnTo>
                <a:lnTo>
                  <a:pt x="29484" y="566439"/>
                </a:lnTo>
                <a:lnTo>
                  <a:pt x="19963" y="552473"/>
                </a:lnTo>
                <a:lnTo>
                  <a:pt x="11282" y="541527"/>
                </a:lnTo>
                <a:lnTo>
                  <a:pt x="5327" y="533223"/>
                </a:lnTo>
                <a:lnTo>
                  <a:pt x="1762" y="527561"/>
                </a:lnTo>
                <a:lnTo>
                  <a:pt x="0" y="525590"/>
                </a:lnTo>
              </a:path>
            </a:pathLst>
          </a:custGeom>
          <a:ln w="381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2859" y="1225897"/>
            <a:ext cx="6648066" cy="49201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2337" y="496473"/>
            <a:ext cx="4534557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This is Emperor Palpatine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7394975" y="1901992"/>
            <a:ext cx="3238364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He’s a bad guy in the Star Wars universe. 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687166" y="3006865"/>
            <a:ext cx="257634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75CEF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How many people hate him?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132658" y="1212564"/>
            <a:ext cx="490864" cy="842445"/>
          </a:xfrm>
          <a:custGeom>
            <a:avLst/>
            <a:gdLst/>
            <a:ahLst/>
            <a:cxnLst/>
            <a:rect l="l" t="t" r="r" b="b"/>
            <a:pathLst>
              <a:path w="490864" h="842445">
                <a:moveTo>
                  <a:pt x="253317" y="0"/>
                </a:moveTo>
                <a:lnTo>
                  <a:pt x="253317" y="1258"/>
                </a:lnTo>
                <a:lnTo>
                  <a:pt x="253317" y="23906"/>
                </a:lnTo>
                <a:lnTo>
                  <a:pt x="253317" y="91764"/>
                </a:lnTo>
                <a:lnTo>
                  <a:pt x="253317" y="187387"/>
                </a:lnTo>
                <a:lnTo>
                  <a:pt x="253317" y="299450"/>
                </a:lnTo>
                <a:lnTo>
                  <a:pt x="253317" y="409794"/>
                </a:lnTo>
                <a:lnTo>
                  <a:pt x="253317" y="496609"/>
                </a:lnTo>
                <a:lnTo>
                  <a:pt x="253317" y="560232"/>
                </a:lnTo>
                <a:lnTo>
                  <a:pt x="255288" y="660594"/>
                </a:lnTo>
                <a:lnTo>
                  <a:pt x="260614" y="696369"/>
                </a:lnTo>
                <a:lnTo>
                  <a:pt x="265773" y="728620"/>
                </a:lnTo>
                <a:lnTo>
                  <a:pt x="270387" y="760747"/>
                </a:lnTo>
                <a:lnTo>
                  <a:pt x="279613" y="804406"/>
                </a:lnTo>
                <a:lnTo>
                  <a:pt x="283303" y="816191"/>
                </a:lnTo>
                <a:lnTo>
                  <a:pt x="283765" y="822524"/>
                </a:lnTo>
                <a:lnTo>
                  <a:pt x="283765" y="825544"/>
                </a:lnTo>
                <a:lnTo>
                  <a:pt x="283765" y="827724"/>
                </a:lnTo>
                <a:lnTo>
                  <a:pt x="283765" y="827808"/>
                </a:lnTo>
                <a:lnTo>
                  <a:pt x="285065" y="824369"/>
                </a:lnTo>
                <a:lnTo>
                  <a:pt x="292824" y="808055"/>
                </a:lnTo>
                <a:lnTo>
                  <a:pt x="317359" y="767457"/>
                </a:lnTo>
                <a:lnTo>
                  <a:pt x="358963" y="709747"/>
                </a:lnTo>
                <a:lnTo>
                  <a:pt x="399057" y="650235"/>
                </a:lnTo>
                <a:lnTo>
                  <a:pt x="432400" y="590932"/>
                </a:lnTo>
                <a:lnTo>
                  <a:pt x="459367" y="540017"/>
                </a:lnTo>
                <a:lnTo>
                  <a:pt x="474591" y="509569"/>
                </a:lnTo>
                <a:lnTo>
                  <a:pt x="482727" y="493422"/>
                </a:lnTo>
                <a:lnTo>
                  <a:pt x="488389" y="485957"/>
                </a:lnTo>
                <a:lnTo>
                  <a:pt x="490864" y="484699"/>
                </a:lnTo>
                <a:lnTo>
                  <a:pt x="489018" y="491786"/>
                </a:lnTo>
                <a:lnTo>
                  <a:pt x="476143" y="516279"/>
                </a:lnTo>
                <a:lnTo>
                  <a:pt x="452489" y="556332"/>
                </a:lnTo>
                <a:lnTo>
                  <a:pt x="424599" y="605443"/>
                </a:lnTo>
                <a:lnTo>
                  <a:pt x="392222" y="663530"/>
                </a:lnTo>
                <a:lnTo>
                  <a:pt x="365380" y="711467"/>
                </a:lnTo>
                <a:lnTo>
                  <a:pt x="343319" y="748416"/>
                </a:lnTo>
                <a:lnTo>
                  <a:pt x="321301" y="784275"/>
                </a:lnTo>
                <a:lnTo>
                  <a:pt x="302386" y="810781"/>
                </a:lnTo>
                <a:lnTo>
                  <a:pt x="288546" y="827976"/>
                </a:lnTo>
                <a:lnTo>
                  <a:pt x="279277" y="837161"/>
                </a:lnTo>
                <a:lnTo>
                  <a:pt x="273616" y="840558"/>
                </a:lnTo>
                <a:lnTo>
                  <a:pt x="269883" y="841690"/>
                </a:lnTo>
                <a:lnTo>
                  <a:pt x="266528" y="842445"/>
                </a:lnTo>
                <a:lnTo>
                  <a:pt x="264263" y="842445"/>
                </a:lnTo>
                <a:lnTo>
                  <a:pt x="259063" y="840139"/>
                </a:lnTo>
                <a:lnTo>
                  <a:pt x="249039" y="833135"/>
                </a:lnTo>
                <a:lnTo>
                  <a:pt x="234444" y="825166"/>
                </a:lnTo>
                <a:lnTo>
                  <a:pt x="214103" y="815226"/>
                </a:lnTo>
                <a:lnTo>
                  <a:pt x="186717" y="799038"/>
                </a:lnTo>
                <a:lnTo>
                  <a:pt x="155471" y="777564"/>
                </a:lnTo>
                <a:lnTo>
                  <a:pt x="126490" y="754497"/>
                </a:lnTo>
                <a:lnTo>
                  <a:pt x="99817" y="726104"/>
                </a:lnTo>
                <a:lnTo>
                  <a:pt x="75743" y="690497"/>
                </a:lnTo>
                <a:lnTo>
                  <a:pt x="59722" y="654597"/>
                </a:lnTo>
                <a:lnTo>
                  <a:pt x="50496" y="624148"/>
                </a:lnTo>
                <a:lnTo>
                  <a:pt x="43702" y="599572"/>
                </a:lnTo>
                <a:lnTo>
                  <a:pt x="36949" y="580992"/>
                </a:lnTo>
                <a:lnTo>
                  <a:pt x="29484" y="566439"/>
                </a:lnTo>
                <a:lnTo>
                  <a:pt x="19963" y="552473"/>
                </a:lnTo>
                <a:lnTo>
                  <a:pt x="11282" y="541527"/>
                </a:lnTo>
                <a:lnTo>
                  <a:pt x="5327" y="533223"/>
                </a:lnTo>
                <a:lnTo>
                  <a:pt x="1762" y="527561"/>
                </a:lnTo>
                <a:lnTo>
                  <a:pt x="0" y="525590"/>
                </a:lnTo>
              </a:path>
            </a:pathLst>
          </a:custGeom>
          <a:ln w="381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2859" y="1225897"/>
            <a:ext cx="6648066" cy="49201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2337" y="496473"/>
            <a:ext cx="4534557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This is Emperor Palpatine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7394975" y="1901992"/>
            <a:ext cx="3238364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He’s a bad guy in the Star Wars universe. 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687166" y="3006865"/>
            <a:ext cx="257634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75CEF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How many people hate him?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401577" y="3988855"/>
            <a:ext cx="2477963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75CEF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We don’t know. It is hard to poll.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132658" y="1212564"/>
            <a:ext cx="490864" cy="842445"/>
          </a:xfrm>
          <a:custGeom>
            <a:avLst/>
            <a:gdLst/>
            <a:ahLst/>
            <a:cxnLst/>
            <a:rect l="l" t="t" r="r" b="b"/>
            <a:pathLst>
              <a:path w="490864" h="842445">
                <a:moveTo>
                  <a:pt x="253317" y="0"/>
                </a:moveTo>
                <a:lnTo>
                  <a:pt x="253317" y="1258"/>
                </a:lnTo>
                <a:lnTo>
                  <a:pt x="253317" y="23906"/>
                </a:lnTo>
                <a:lnTo>
                  <a:pt x="253317" y="91764"/>
                </a:lnTo>
                <a:lnTo>
                  <a:pt x="253317" y="187387"/>
                </a:lnTo>
                <a:lnTo>
                  <a:pt x="253317" y="299450"/>
                </a:lnTo>
                <a:lnTo>
                  <a:pt x="253317" y="409794"/>
                </a:lnTo>
                <a:lnTo>
                  <a:pt x="253317" y="496609"/>
                </a:lnTo>
                <a:lnTo>
                  <a:pt x="253317" y="560232"/>
                </a:lnTo>
                <a:lnTo>
                  <a:pt x="255288" y="660594"/>
                </a:lnTo>
                <a:lnTo>
                  <a:pt x="260614" y="696369"/>
                </a:lnTo>
                <a:lnTo>
                  <a:pt x="265773" y="728620"/>
                </a:lnTo>
                <a:lnTo>
                  <a:pt x="270387" y="760747"/>
                </a:lnTo>
                <a:lnTo>
                  <a:pt x="279613" y="804406"/>
                </a:lnTo>
                <a:lnTo>
                  <a:pt x="283303" y="816191"/>
                </a:lnTo>
                <a:lnTo>
                  <a:pt x="283765" y="822524"/>
                </a:lnTo>
                <a:lnTo>
                  <a:pt x="283765" y="825544"/>
                </a:lnTo>
                <a:lnTo>
                  <a:pt x="283765" y="827724"/>
                </a:lnTo>
                <a:lnTo>
                  <a:pt x="283765" y="827808"/>
                </a:lnTo>
                <a:lnTo>
                  <a:pt x="285065" y="824369"/>
                </a:lnTo>
                <a:lnTo>
                  <a:pt x="292824" y="808055"/>
                </a:lnTo>
                <a:lnTo>
                  <a:pt x="317359" y="767457"/>
                </a:lnTo>
                <a:lnTo>
                  <a:pt x="358963" y="709747"/>
                </a:lnTo>
                <a:lnTo>
                  <a:pt x="399057" y="650235"/>
                </a:lnTo>
                <a:lnTo>
                  <a:pt x="432400" y="590932"/>
                </a:lnTo>
                <a:lnTo>
                  <a:pt x="459367" y="540017"/>
                </a:lnTo>
                <a:lnTo>
                  <a:pt x="474591" y="509569"/>
                </a:lnTo>
                <a:lnTo>
                  <a:pt x="482727" y="493422"/>
                </a:lnTo>
                <a:lnTo>
                  <a:pt x="488389" y="485957"/>
                </a:lnTo>
                <a:lnTo>
                  <a:pt x="490864" y="484699"/>
                </a:lnTo>
                <a:lnTo>
                  <a:pt x="489018" y="491786"/>
                </a:lnTo>
                <a:lnTo>
                  <a:pt x="476143" y="516279"/>
                </a:lnTo>
                <a:lnTo>
                  <a:pt x="452489" y="556332"/>
                </a:lnTo>
                <a:lnTo>
                  <a:pt x="424599" y="605443"/>
                </a:lnTo>
                <a:lnTo>
                  <a:pt x="392222" y="663530"/>
                </a:lnTo>
                <a:lnTo>
                  <a:pt x="365380" y="711467"/>
                </a:lnTo>
                <a:lnTo>
                  <a:pt x="343319" y="748416"/>
                </a:lnTo>
                <a:lnTo>
                  <a:pt x="321301" y="784275"/>
                </a:lnTo>
                <a:lnTo>
                  <a:pt x="302386" y="810781"/>
                </a:lnTo>
                <a:lnTo>
                  <a:pt x="288546" y="827976"/>
                </a:lnTo>
                <a:lnTo>
                  <a:pt x="279277" y="837161"/>
                </a:lnTo>
                <a:lnTo>
                  <a:pt x="273616" y="840558"/>
                </a:lnTo>
                <a:lnTo>
                  <a:pt x="269883" y="841690"/>
                </a:lnTo>
                <a:lnTo>
                  <a:pt x="266528" y="842445"/>
                </a:lnTo>
                <a:lnTo>
                  <a:pt x="264263" y="842445"/>
                </a:lnTo>
                <a:lnTo>
                  <a:pt x="259063" y="840139"/>
                </a:lnTo>
                <a:lnTo>
                  <a:pt x="249039" y="833135"/>
                </a:lnTo>
                <a:lnTo>
                  <a:pt x="234444" y="825166"/>
                </a:lnTo>
                <a:lnTo>
                  <a:pt x="214103" y="815226"/>
                </a:lnTo>
                <a:lnTo>
                  <a:pt x="186717" y="799038"/>
                </a:lnTo>
                <a:lnTo>
                  <a:pt x="155471" y="777564"/>
                </a:lnTo>
                <a:lnTo>
                  <a:pt x="126490" y="754497"/>
                </a:lnTo>
                <a:lnTo>
                  <a:pt x="99817" y="726104"/>
                </a:lnTo>
                <a:lnTo>
                  <a:pt x="75743" y="690497"/>
                </a:lnTo>
                <a:lnTo>
                  <a:pt x="59722" y="654597"/>
                </a:lnTo>
                <a:lnTo>
                  <a:pt x="50496" y="624148"/>
                </a:lnTo>
                <a:lnTo>
                  <a:pt x="43702" y="599572"/>
                </a:lnTo>
                <a:lnTo>
                  <a:pt x="36949" y="580992"/>
                </a:lnTo>
                <a:lnTo>
                  <a:pt x="29484" y="566439"/>
                </a:lnTo>
                <a:lnTo>
                  <a:pt x="19963" y="552473"/>
                </a:lnTo>
                <a:lnTo>
                  <a:pt x="11282" y="541527"/>
                </a:lnTo>
                <a:lnTo>
                  <a:pt x="5327" y="533223"/>
                </a:lnTo>
                <a:lnTo>
                  <a:pt x="1762" y="527561"/>
                </a:lnTo>
                <a:lnTo>
                  <a:pt x="0" y="525590"/>
                </a:lnTo>
              </a:path>
            </a:pathLst>
          </a:custGeom>
          <a:ln w="381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2859" y="1225897"/>
            <a:ext cx="6648066" cy="49201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2337" y="496473"/>
            <a:ext cx="4534557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This is Emperor Palpatine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7394975" y="1901992"/>
            <a:ext cx="3238364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He’s a bad guy in the Star Wars universe. 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687166" y="3006865"/>
            <a:ext cx="257634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75CEF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How many people hate him?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401577" y="3988855"/>
            <a:ext cx="2477963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75CEF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We don’t know. It is hard to poll.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961058" y="5200392"/>
            <a:ext cx="268465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7FF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He kills people who tell pollsters they don’t like him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3132658" y="1212564"/>
            <a:ext cx="490864" cy="842445"/>
          </a:xfrm>
          <a:custGeom>
            <a:avLst/>
            <a:gdLst/>
            <a:ahLst/>
            <a:cxnLst/>
            <a:rect l="l" t="t" r="r" b="b"/>
            <a:pathLst>
              <a:path w="490864" h="842445">
                <a:moveTo>
                  <a:pt x="253317" y="0"/>
                </a:moveTo>
                <a:lnTo>
                  <a:pt x="253317" y="1258"/>
                </a:lnTo>
                <a:lnTo>
                  <a:pt x="253317" y="23906"/>
                </a:lnTo>
                <a:lnTo>
                  <a:pt x="253317" y="91764"/>
                </a:lnTo>
                <a:lnTo>
                  <a:pt x="253317" y="187387"/>
                </a:lnTo>
                <a:lnTo>
                  <a:pt x="253317" y="299450"/>
                </a:lnTo>
                <a:lnTo>
                  <a:pt x="253317" y="409794"/>
                </a:lnTo>
                <a:lnTo>
                  <a:pt x="253317" y="496609"/>
                </a:lnTo>
                <a:lnTo>
                  <a:pt x="253317" y="560232"/>
                </a:lnTo>
                <a:lnTo>
                  <a:pt x="255288" y="660594"/>
                </a:lnTo>
                <a:lnTo>
                  <a:pt x="260614" y="696369"/>
                </a:lnTo>
                <a:lnTo>
                  <a:pt x="265773" y="728620"/>
                </a:lnTo>
                <a:lnTo>
                  <a:pt x="270387" y="760747"/>
                </a:lnTo>
                <a:lnTo>
                  <a:pt x="279613" y="804406"/>
                </a:lnTo>
                <a:lnTo>
                  <a:pt x="283303" y="816191"/>
                </a:lnTo>
                <a:lnTo>
                  <a:pt x="283765" y="822524"/>
                </a:lnTo>
                <a:lnTo>
                  <a:pt x="283765" y="825544"/>
                </a:lnTo>
                <a:lnTo>
                  <a:pt x="283765" y="827724"/>
                </a:lnTo>
                <a:lnTo>
                  <a:pt x="283765" y="827808"/>
                </a:lnTo>
                <a:lnTo>
                  <a:pt x="285065" y="824369"/>
                </a:lnTo>
                <a:lnTo>
                  <a:pt x="292824" y="808055"/>
                </a:lnTo>
                <a:lnTo>
                  <a:pt x="317359" y="767457"/>
                </a:lnTo>
                <a:lnTo>
                  <a:pt x="358963" y="709747"/>
                </a:lnTo>
                <a:lnTo>
                  <a:pt x="399057" y="650235"/>
                </a:lnTo>
                <a:lnTo>
                  <a:pt x="432400" y="590932"/>
                </a:lnTo>
                <a:lnTo>
                  <a:pt x="459367" y="540017"/>
                </a:lnTo>
                <a:lnTo>
                  <a:pt x="474591" y="509569"/>
                </a:lnTo>
                <a:lnTo>
                  <a:pt x="482727" y="493422"/>
                </a:lnTo>
                <a:lnTo>
                  <a:pt x="488389" y="485957"/>
                </a:lnTo>
                <a:lnTo>
                  <a:pt x="490864" y="484699"/>
                </a:lnTo>
                <a:lnTo>
                  <a:pt x="489018" y="491786"/>
                </a:lnTo>
                <a:lnTo>
                  <a:pt x="476143" y="516279"/>
                </a:lnTo>
                <a:lnTo>
                  <a:pt x="452489" y="556332"/>
                </a:lnTo>
                <a:lnTo>
                  <a:pt x="424599" y="605443"/>
                </a:lnTo>
                <a:lnTo>
                  <a:pt x="392222" y="663530"/>
                </a:lnTo>
                <a:lnTo>
                  <a:pt x="365380" y="711467"/>
                </a:lnTo>
                <a:lnTo>
                  <a:pt x="343319" y="748416"/>
                </a:lnTo>
                <a:lnTo>
                  <a:pt x="321301" y="784275"/>
                </a:lnTo>
                <a:lnTo>
                  <a:pt x="302386" y="810781"/>
                </a:lnTo>
                <a:lnTo>
                  <a:pt x="288546" y="827976"/>
                </a:lnTo>
                <a:lnTo>
                  <a:pt x="279277" y="837161"/>
                </a:lnTo>
                <a:lnTo>
                  <a:pt x="273616" y="840558"/>
                </a:lnTo>
                <a:lnTo>
                  <a:pt x="269883" y="841690"/>
                </a:lnTo>
                <a:lnTo>
                  <a:pt x="266528" y="842445"/>
                </a:lnTo>
                <a:lnTo>
                  <a:pt x="264263" y="842445"/>
                </a:lnTo>
                <a:lnTo>
                  <a:pt x="259063" y="840139"/>
                </a:lnTo>
                <a:lnTo>
                  <a:pt x="249039" y="833135"/>
                </a:lnTo>
                <a:lnTo>
                  <a:pt x="234444" y="825166"/>
                </a:lnTo>
                <a:lnTo>
                  <a:pt x="214103" y="815226"/>
                </a:lnTo>
                <a:lnTo>
                  <a:pt x="186717" y="799038"/>
                </a:lnTo>
                <a:lnTo>
                  <a:pt x="155471" y="777564"/>
                </a:lnTo>
                <a:lnTo>
                  <a:pt x="126490" y="754497"/>
                </a:lnTo>
                <a:lnTo>
                  <a:pt x="99817" y="726104"/>
                </a:lnTo>
                <a:lnTo>
                  <a:pt x="75743" y="690497"/>
                </a:lnTo>
                <a:lnTo>
                  <a:pt x="59722" y="654597"/>
                </a:lnTo>
                <a:lnTo>
                  <a:pt x="50496" y="624148"/>
                </a:lnTo>
                <a:lnTo>
                  <a:pt x="43702" y="599572"/>
                </a:lnTo>
                <a:lnTo>
                  <a:pt x="36949" y="580992"/>
                </a:lnTo>
                <a:lnTo>
                  <a:pt x="29484" y="566439"/>
                </a:lnTo>
                <a:lnTo>
                  <a:pt x="19963" y="552473"/>
                </a:lnTo>
                <a:lnTo>
                  <a:pt x="11282" y="541527"/>
                </a:lnTo>
                <a:lnTo>
                  <a:pt x="5327" y="533223"/>
                </a:lnTo>
                <a:lnTo>
                  <a:pt x="1762" y="527561"/>
                </a:lnTo>
                <a:lnTo>
                  <a:pt x="0" y="525590"/>
                </a:lnTo>
              </a:path>
            </a:pathLst>
          </a:custGeom>
          <a:ln w="381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0" y="1587500"/>
            <a:ext cx="1524000" cy="1524000"/>
          </a:xfrm>
          <a:prstGeom prst="ellipse">
            <a:avLst/>
          </a:prstGeom>
          <a:solidFill>
            <a:srgbClr val="2A1430"/>
          </a:solidFill>
          <a:ln w="25400">
            <a:solidFill>
              <a:srgbClr val="FF7FF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1016000" y="3556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many people </a:t>
            </a:r>
            <a:pPr indent="0" marL="0">
              <a:buNone/>
            </a:pPr>
            <a:r>
              <a:rPr lang="en-US" sz="3600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Palpatine</a:t>
            </a:r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0" y="1587500"/>
            <a:ext cx="1524000" cy="1524000"/>
          </a:xfrm>
          <a:prstGeom prst="ellipse">
            <a:avLst/>
          </a:prstGeom>
          <a:solidFill>
            <a:srgbClr val="2A1430"/>
          </a:solidFill>
          <a:ln w="25400">
            <a:solidFill>
              <a:srgbClr val="FF7FF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1016000" y="3556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many people </a:t>
            </a:r>
            <a:pPr indent="0" marL="0">
              <a:buNone/>
            </a:pPr>
            <a:r>
              <a:rPr lang="en-US" sz="3600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Palpatine</a:t>
            </a:r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16000" y="4445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Star Wars, Palpatine rules the galaxy. Nobody answers that question honestly.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10795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trick: hide the question in a list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35000" y="1079500"/>
            <a:ext cx="6731000" cy="495300"/>
          </a:xfrm>
          <a:prstGeom prst="roundRect">
            <a:avLst>
              <a:gd name="adj" fmla="val 75740"/>
            </a:avLst>
          </a:prstGeom>
          <a:solidFill>
            <a:srgbClr val="161C2A"/>
          </a:solidFill>
          <a:ln w="12700">
            <a:solidFill>
              <a:srgbClr val="3642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5500" y="11684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like surprises?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5000" y="1689100"/>
            <a:ext cx="6731000" cy="495300"/>
          </a:xfrm>
          <a:prstGeom prst="roundRect">
            <a:avLst>
              <a:gd name="adj" fmla="val 75740"/>
            </a:avLst>
          </a:prstGeom>
          <a:solidFill>
            <a:srgbClr val="161C2A"/>
          </a:solidFill>
          <a:ln w="12700">
            <a:solidFill>
              <a:srgbClr val="3642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5500" y="17780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like the beach more than the mountains?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5000" y="2298700"/>
            <a:ext cx="6731000" cy="495300"/>
          </a:xfrm>
          <a:prstGeom prst="roundRect">
            <a:avLst>
              <a:gd name="adj" fmla="val 75740"/>
            </a:avLst>
          </a:prstGeom>
          <a:solidFill>
            <a:srgbClr val="161C2A"/>
          </a:solidFill>
          <a:ln w="12700">
            <a:solidFill>
              <a:srgbClr val="3642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5500" y="23876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like paper books more than e-books?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5000" y="2908300"/>
            <a:ext cx="6731000" cy="495300"/>
          </a:xfrm>
          <a:prstGeom prst="roundRect">
            <a:avLst>
              <a:gd name="adj" fmla="val 75740"/>
            </a:avLst>
          </a:prstGeom>
          <a:solidFill>
            <a:srgbClr val="161C2A"/>
          </a:solidFill>
          <a:ln w="12700">
            <a:solidFill>
              <a:srgbClr val="3642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5500" y="29972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 you rather have more time than more money?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5000" y="3517900"/>
            <a:ext cx="6731000" cy="495300"/>
          </a:xfrm>
          <a:prstGeom prst="roundRect">
            <a:avLst>
              <a:gd name="adj" fmla="val 75740"/>
            </a:avLst>
          </a:prstGeom>
          <a:solidFill>
            <a:srgbClr val="161C2A"/>
          </a:solidFill>
          <a:ln w="12700">
            <a:solidFill>
              <a:srgbClr val="3642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5500" y="36068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like holidays at home more than abroad?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10795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trick: hide the question in a list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35000" y="1079500"/>
            <a:ext cx="6731000" cy="495300"/>
          </a:xfrm>
          <a:prstGeom prst="roundRect">
            <a:avLst>
              <a:gd name="adj" fmla="val 75740"/>
            </a:avLst>
          </a:prstGeom>
          <a:solidFill>
            <a:srgbClr val="161C2A"/>
          </a:solidFill>
          <a:ln w="12700">
            <a:solidFill>
              <a:srgbClr val="3642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5500" y="11684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like surprises?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5000" y="1689100"/>
            <a:ext cx="6731000" cy="495300"/>
          </a:xfrm>
          <a:prstGeom prst="roundRect">
            <a:avLst>
              <a:gd name="adj" fmla="val 75740"/>
            </a:avLst>
          </a:prstGeom>
          <a:solidFill>
            <a:srgbClr val="161C2A"/>
          </a:solidFill>
          <a:ln w="12700">
            <a:solidFill>
              <a:srgbClr val="3642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5500" y="17780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like the beach more than the mountains?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5000" y="2298700"/>
            <a:ext cx="6731000" cy="495300"/>
          </a:xfrm>
          <a:prstGeom prst="roundRect">
            <a:avLst>
              <a:gd name="adj" fmla="val 75740"/>
            </a:avLst>
          </a:prstGeom>
          <a:solidFill>
            <a:srgbClr val="161C2A"/>
          </a:solidFill>
          <a:ln w="12700">
            <a:solidFill>
              <a:srgbClr val="3642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5500" y="23876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like paper books more than e-books?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5000" y="2908300"/>
            <a:ext cx="6731000" cy="495300"/>
          </a:xfrm>
          <a:prstGeom prst="roundRect">
            <a:avLst>
              <a:gd name="adj" fmla="val 75740"/>
            </a:avLst>
          </a:prstGeom>
          <a:solidFill>
            <a:srgbClr val="161C2A"/>
          </a:solidFill>
          <a:ln w="12700">
            <a:solidFill>
              <a:srgbClr val="3642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5500" y="29972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 you rather have more time than more money?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5000" y="3517900"/>
            <a:ext cx="6731000" cy="495300"/>
          </a:xfrm>
          <a:prstGeom prst="roundRect">
            <a:avLst>
              <a:gd name="adj" fmla="val 75740"/>
            </a:avLst>
          </a:prstGeom>
          <a:solidFill>
            <a:srgbClr val="161C2A"/>
          </a:solidFill>
          <a:ln w="12700">
            <a:solidFill>
              <a:srgbClr val="3642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5500" y="36068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like holidays at home more than abroad?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5000" y="4127500"/>
            <a:ext cx="6731000" cy="495300"/>
          </a:xfrm>
          <a:prstGeom prst="roundRect">
            <a:avLst>
              <a:gd name="adj" fmla="val 75740"/>
            </a:avLst>
          </a:prstGeom>
          <a:solidFill>
            <a:srgbClr val="2A1430"/>
          </a:solidFill>
          <a:ln w="19050">
            <a:solidFill>
              <a:srgbClr val="FF7FF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5500" y="42164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 </a:t>
            </a:r>
            <a:pPr indent="0" marL="0">
              <a:buNone/>
            </a:pPr>
            <a:r>
              <a:rPr lang="en-US" sz="20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support Palpatine?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10795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trick: hide the question in a list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35000" y="1079500"/>
            <a:ext cx="6731000" cy="495300"/>
          </a:xfrm>
          <a:prstGeom prst="roundRect">
            <a:avLst>
              <a:gd name="adj" fmla="val 75740"/>
            </a:avLst>
          </a:prstGeom>
          <a:solidFill>
            <a:srgbClr val="161C2A"/>
          </a:solidFill>
          <a:ln w="12700">
            <a:solidFill>
              <a:srgbClr val="3642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5500" y="11684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like surprises?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5000" y="1689100"/>
            <a:ext cx="6731000" cy="495300"/>
          </a:xfrm>
          <a:prstGeom prst="roundRect">
            <a:avLst>
              <a:gd name="adj" fmla="val 75740"/>
            </a:avLst>
          </a:prstGeom>
          <a:solidFill>
            <a:srgbClr val="161C2A"/>
          </a:solidFill>
          <a:ln w="12700">
            <a:solidFill>
              <a:srgbClr val="3642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5500" y="17780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like the beach more than the mountains?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5000" y="2298700"/>
            <a:ext cx="6731000" cy="495300"/>
          </a:xfrm>
          <a:prstGeom prst="roundRect">
            <a:avLst>
              <a:gd name="adj" fmla="val 75740"/>
            </a:avLst>
          </a:prstGeom>
          <a:solidFill>
            <a:srgbClr val="161C2A"/>
          </a:solidFill>
          <a:ln w="12700">
            <a:solidFill>
              <a:srgbClr val="3642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5500" y="23876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like paper books more than e-books?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5000" y="2908300"/>
            <a:ext cx="6731000" cy="495300"/>
          </a:xfrm>
          <a:prstGeom prst="roundRect">
            <a:avLst>
              <a:gd name="adj" fmla="val 75740"/>
            </a:avLst>
          </a:prstGeom>
          <a:solidFill>
            <a:srgbClr val="161C2A"/>
          </a:solidFill>
          <a:ln w="12700">
            <a:solidFill>
              <a:srgbClr val="3642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5500" y="29972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 you rather have more time than more money?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5000" y="3517900"/>
            <a:ext cx="6731000" cy="495300"/>
          </a:xfrm>
          <a:prstGeom prst="roundRect">
            <a:avLst>
              <a:gd name="adj" fmla="val 75740"/>
            </a:avLst>
          </a:prstGeom>
          <a:solidFill>
            <a:srgbClr val="161C2A"/>
          </a:solidFill>
          <a:ln w="12700">
            <a:solidFill>
              <a:srgbClr val="3642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5500" y="36068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like holidays at home more than abroad?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5000" y="4127500"/>
            <a:ext cx="6731000" cy="495300"/>
          </a:xfrm>
          <a:prstGeom prst="roundRect">
            <a:avLst>
              <a:gd name="adj" fmla="val 75740"/>
            </a:avLst>
          </a:prstGeom>
          <a:solidFill>
            <a:srgbClr val="2A1430"/>
          </a:solidFill>
          <a:ln w="19050">
            <a:solidFill>
              <a:srgbClr val="FF7FF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5500" y="42164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 </a:t>
            </a:r>
            <a:pPr indent="0" marL="0">
              <a:buNone/>
            </a:pPr>
            <a:r>
              <a:rPr lang="en-US" sz="20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support Palpatine?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191500" y="2222500"/>
            <a:ext cx="1778000" cy="1778000"/>
          </a:xfrm>
          <a:prstGeom prst="ellipse">
            <a:avLst/>
          </a:prstGeom>
          <a:solidFill>
            <a:srgbClr val="161C2A"/>
          </a:solidFill>
          <a:ln w="25400">
            <a:solidFill>
              <a:srgbClr val="75CEF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0" dirty="0"/>
          </a:p>
        </p:txBody>
      </p:sp>
      <p:sp>
        <p:nvSpPr>
          <p:cNvPr id="16" name="Text 14"/>
          <p:cNvSpPr/>
          <p:nvPr/>
        </p:nvSpPr>
        <p:spPr>
          <a:xfrm>
            <a:off x="7556500" y="41910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 </a:t>
            </a:r>
            <a:pPr indent="0" marL="0">
              <a:buNone/>
            </a:pPr>
            <a:r>
              <a:rPr lang="en-US" sz="24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many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are yes. Not which ones.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10795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trick: hide the question in a list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35000" y="1079500"/>
            <a:ext cx="6731000" cy="495300"/>
          </a:xfrm>
          <a:prstGeom prst="roundRect">
            <a:avLst>
              <a:gd name="adj" fmla="val 75740"/>
            </a:avLst>
          </a:prstGeom>
          <a:solidFill>
            <a:srgbClr val="161C2A"/>
          </a:solidFill>
          <a:ln w="12700">
            <a:solidFill>
              <a:srgbClr val="3642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5500" y="11684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like surprises?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5000" y="1689100"/>
            <a:ext cx="6731000" cy="495300"/>
          </a:xfrm>
          <a:prstGeom prst="roundRect">
            <a:avLst>
              <a:gd name="adj" fmla="val 75740"/>
            </a:avLst>
          </a:prstGeom>
          <a:solidFill>
            <a:srgbClr val="161C2A"/>
          </a:solidFill>
          <a:ln w="12700">
            <a:solidFill>
              <a:srgbClr val="3642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5500" y="17780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like the beach more than the mountains?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5000" y="2298700"/>
            <a:ext cx="6731000" cy="495300"/>
          </a:xfrm>
          <a:prstGeom prst="roundRect">
            <a:avLst>
              <a:gd name="adj" fmla="val 75740"/>
            </a:avLst>
          </a:prstGeom>
          <a:solidFill>
            <a:srgbClr val="161C2A"/>
          </a:solidFill>
          <a:ln w="12700">
            <a:solidFill>
              <a:srgbClr val="3642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5500" y="23876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like paper books more than e-books?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5000" y="2908300"/>
            <a:ext cx="6731000" cy="495300"/>
          </a:xfrm>
          <a:prstGeom prst="roundRect">
            <a:avLst>
              <a:gd name="adj" fmla="val 75740"/>
            </a:avLst>
          </a:prstGeom>
          <a:solidFill>
            <a:srgbClr val="161C2A"/>
          </a:solidFill>
          <a:ln w="12700">
            <a:solidFill>
              <a:srgbClr val="3642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5500" y="29972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 you rather have more time than more money?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5000" y="3517900"/>
            <a:ext cx="6731000" cy="495300"/>
          </a:xfrm>
          <a:prstGeom prst="roundRect">
            <a:avLst>
              <a:gd name="adj" fmla="val 75740"/>
            </a:avLst>
          </a:prstGeom>
          <a:solidFill>
            <a:srgbClr val="161C2A"/>
          </a:solidFill>
          <a:ln w="12700">
            <a:solidFill>
              <a:srgbClr val="3642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5500" y="36068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like holidays at home more than abroad?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5000" y="4127500"/>
            <a:ext cx="6731000" cy="495300"/>
          </a:xfrm>
          <a:prstGeom prst="roundRect">
            <a:avLst>
              <a:gd name="adj" fmla="val 75740"/>
            </a:avLst>
          </a:prstGeom>
          <a:solidFill>
            <a:srgbClr val="2A1430"/>
          </a:solidFill>
          <a:ln w="19050">
            <a:solidFill>
              <a:srgbClr val="FF7FF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5500" y="42164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 </a:t>
            </a:r>
            <a:pPr indent="0" marL="0">
              <a:buNone/>
            </a:pPr>
            <a:r>
              <a:rPr lang="en-US" sz="20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support Palpatine?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191500" y="2222500"/>
            <a:ext cx="1778000" cy="1778000"/>
          </a:xfrm>
          <a:prstGeom prst="ellipse">
            <a:avLst/>
          </a:prstGeom>
          <a:solidFill>
            <a:srgbClr val="161C2A"/>
          </a:solidFill>
          <a:ln w="25400">
            <a:solidFill>
              <a:srgbClr val="75CEF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0" dirty="0"/>
          </a:p>
        </p:txBody>
      </p:sp>
      <p:sp>
        <p:nvSpPr>
          <p:cNvPr id="16" name="Text 14"/>
          <p:cNvSpPr/>
          <p:nvPr/>
        </p:nvSpPr>
        <p:spPr>
          <a:xfrm>
            <a:off x="7556500" y="41910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 </a:t>
            </a:r>
            <a:pPr indent="0" marL="0">
              <a:buNone/>
            </a:pPr>
            <a:r>
              <a:rPr lang="en-US" sz="24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many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are yes. Not which ones.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5000" y="590550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94A3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harmless questions, each about 50/50. Your answer is just a number.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10795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trick is real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9654" y="1852185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Vietnam, 2023: researchers hid a question about cheating with ChatGPT in a list like this one.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95300" y="6350000"/>
            <a:ext cx="1041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Nguyen and Goto, “Unmasking academic cheating behavior in the artificial intelligence era”, Education and Information Technologies 29 (2024): 9.6% said yes when asked directly; the list experiment gave 23.7%.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4064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10795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trick is real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9654" y="1852185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Vietnam, 2023: researchers hid a question about cheating with ChatGPT in a list like this one.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7511" y="3507928"/>
            <a:ext cx="10160000" cy="193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Asked directly, 1 in 10 said yes. The “trick” said about 1 in 4.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95300" y="6350000"/>
            <a:ext cx="1041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Nguyen and Goto, “Unmasking academic cheating behavior in the artificial intelligence era”, Education and Information Technologies 29 (2024): 9.6% said yes when asked directly; the list experiment gave 23.7%.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4064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10795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Warm-up: the five harmless questions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9437" y="829077"/>
            <a:ext cx="898302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person answers the five harmless questions. Each is 50/50.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many of the five do they say yes to?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21002" y="1542275"/>
            <a:ext cx="640414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7050" y="1365250"/>
            <a:ext cx="7937500" cy="2857500"/>
          </a:xfrm>
          <a:prstGeom prst="roundRect">
            <a:avLst>
              <a:gd name="adj" fmla="val 3413"/>
            </a:avLst>
          </a:prstGeom>
          <a:solidFill>
            <a:srgbClr val="000000"/>
          </a:solidFill>
          <a:ln w="31750">
            <a:solidFill>
              <a:srgbClr val="75CEF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9450" y="1638300"/>
            <a:ext cx="4445000" cy="2311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2250" y="2470150"/>
            <a:ext cx="300990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 how many yeses?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27050" y="4349750"/>
            <a:ext cx="7937500" cy="2254250"/>
          </a:xfrm>
          <a:prstGeom prst="rect">
            <a:avLst/>
          </a:prstGeom>
          <a:ln w="12700">
            <a:solidFill>
              <a:srgbClr val="80808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Editable Demo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runs on the web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080500" y="1968500"/>
            <a:ext cx="29845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Bernoulli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trial: 1 if it happens, 0 if not.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\textcolor{#75cefa}{X} \sim \text{Ber}(p)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Binomial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 of successes in n independent trials.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\textcolor{#75cefa}{X} \sim \text{Bin}(n, p)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Neither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other random variable: not a yes-or-no trial, and not a count of successes.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95300" y="10795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Warm-up: the five harmless questions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10795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Warm-up: the five harmless questions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9437" y="829077"/>
            <a:ext cx="898302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person answers the five harmless questions. Each is 50/50.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many of the five do they say yes to?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-828929" y="1475314"/>
            <a:ext cx="640414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10795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Warm-up: the five harmless questions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9437" y="829077"/>
            <a:ext cx="898302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person answers the five harmless questions. Each is 50/50.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many of the five do they say yes to?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-828929" y="1475314"/>
            <a:ext cx="640414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061" y="1866008"/>
            <a:ext cx="877690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</a:t>
            </a:r>
            <a:pPr indent="0" marL="0">
              <a:buNone/>
            </a:pPr>
            <a:r>
              <a:rPr lang="en-US" sz="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pPr indent="0" marL="0">
              <a:buNone/>
            </a:pPr>
            <a:r>
              <a:rPr lang="en-US" sz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 the number of yesses to the harmless questions</a:t>
            </a:r>
            <a:endParaRPr lang="en-US" sz="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10795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Warm-up: the five harmless questions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9437" y="829077"/>
            <a:ext cx="898302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person answers the five harmless questions. Each is 50/50.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many of the five do they say yes to?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-828929" y="1475314"/>
            <a:ext cx="640414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061" y="1866008"/>
            <a:ext cx="877690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</a:t>
            </a:r>
            <a:pPr indent="0" marL="0">
              <a:buNone/>
            </a:pPr>
            <a:r>
              <a:rPr lang="en-US" sz="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pPr indent="0" marL="0">
              <a:buNone/>
            </a:pPr>
            <a:r>
              <a:rPr lang="en-US" sz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 the number of yesses to the harmless questions</a:t>
            </a:r>
            <a:endParaRPr lang="en-US" sz="200" dirty="0"/>
          </a:p>
        </p:txBody>
      </p:sp>
      <p:sp>
        <p:nvSpPr>
          <p:cNvPr id="6" name="Text 4"/>
          <p:cNvSpPr/>
          <p:nvPr/>
        </p:nvSpPr>
        <p:spPr>
          <a:xfrm>
            <a:off x="3756868" y="2331870"/>
            <a:ext cx="3774017" cy="4218840"/>
          </a:xfrm>
          <a:prstGeom prst="rect">
            <a:avLst/>
          </a:prstGeom>
          <a:ln w="12700">
            <a:solidFill>
              <a:srgbClr val="80808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Binomial Calculator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runs on the web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23031" y="1758470"/>
            <a:ext cx="6414034" cy="4124915"/>
          </a:xfrm>
          <a:prstGeom prst="rect">
            <a:avLst/>
          </a:prstGeom>
          <a:ln w="12700">
            <a:solidFill>
              <a:srgbClr val="80808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Galton Board Demo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runs on the web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95300" y="10795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Warm-up: the five harmless questions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607831" y="5803911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128616" y="5806553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70708" y="5803911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27536" y="5803911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719928" y="5803911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04880" y="5809195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059322" y="6134111"/>
            <a:ext cx="444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4A3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harmless yeses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9437" y="829077"/>
            <a:ext cx="898302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person answers the five harmless questions. Each is 50/50.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many of the five do they say yes to?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23031" y="1758470"/>
            <a:ext cx="6414034" cy="4124915"/>
          </a:xfrm>
          <a:prstGeom prst="rect">
            <a:avLst/>
          </a:prstGeom>
          <a:ln w="12700">
            <a:solidFill>
              <a:srgbClr val="80808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Galton Board Demo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runs on the web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95300" y="10795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Warm-up: the five harmless questions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607831" y="5803911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128616" y="5806553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70708" y="5803911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27536" y="5803911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719928" y="5803911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04880" y="5809195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059322" y="6134111"/>
            <a:ext cx="444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4A3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harmless yeses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9437" y="829077"/>
            <a:ext cx="898302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person answers the five harmless questions. Each is 50/50.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many of the five do they say yes to?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23031" y="1758470"/>
            <a:ext cx="6414034" cy="4124915"/>
          </a:xfrm>
          <a:prstGeom prst="rect">
            <a:avLst/>
          </a:prstGeom>
          <a:ln w="12700">
            <a:solidFill>
              <a:srgbClr val="80808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Galton Board Demo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runs on the web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95300" y="10795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Warm-up: the five harmless questions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607831" y="5803911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128616" y="5806553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70708" y="5803911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27536" y="5803911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719928" y="5803911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04880" y="5809195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059322" y="6134111"/>
            <a:ext cx="444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4A3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harmless yeses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9437" y="829077"/>
            <a:ext cx="898302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person answers the five harmless questions. Each is 50/50.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many of the five do they say yes to?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794000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Turn</a:t>
            </a:r>
            <a:endParaRPr lang="en-US" sz="4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10795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task: find the hidden support</a:t>
            </a:r>
            <a:endParaRPr lang="en-US" sz="3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10795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task: find the hidden support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5500" y="1333500"/>
            <a:ext cx="609600" cy="609600"/>
          </a:xfrm>
          <a:prstGeom prst="ellipse">
            <a:avLst/>
          </a:prstGeom>
          <a:solidFill>
            <a:srgbClr val="161C2A"/>
          </a:solidFill>
          <a:ln w="19050">
            <a:solidFill>
              <a:srgbClr val="75CEF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51000" y="1358900"/>
            <a:ext cx="7175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the story of one answer: what is random, and what is not.</a:t>
            </a:r>
            <a:endParaRPr lang="en-US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10795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task: find the hidden support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5500" y="1333500"/>
            <a:ext cx="609600" cy="609600"/>
          </a:xfrm>
          <a:prstGeom prst="ellipse">
            <a:avLst/>
          </a:prstGeom>
          <a:solidFill>
            <a:srgbClr val="161C2A"/>
          </a:solidFill>
          <a:ln w="19050">
            <a:solidFill>
              <a:srgbClr val="75CEF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51000" y="1358900"/>
            <a:ext cx="7175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the story of one answer: what is random, and what is not.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5500" y="2413000"/>
            <a:ext cx="609600" cy="609600"/>
          </a:xfrm>
          <a:prstGeom prst="ellipse">
            <a:avLst/>
          </a:prstGeom>
          <a:solidFill>
            <a:srgbClr val="161C2A"/>
          </a:solidFill>
          <a:ln w="19050">
            <a:solidFill>
              <a:srgbClr val="75CEF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51000" y="2438400"/>
            <a:ext cx="7175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the story. Do 1,000 of its answers look like the real ones?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10795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task: find the hidden support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5500" y="1333500"/>
            <a:ext cx="609600" cy="609600"/>
          </a:xfrm>
          <a:prstGeom prst="ellipse">
            <a:avLst/>
          </a:prstGeom>
          <a:solidFill>
            <a:srgbClr val="161C2A"/>
          </a:solidFill>
          <a:ln w="19050">
            <a:solidFill>
              <a:srgbClr val="75CEF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51000" y="1358900"/>
            <a:ext cx="7175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the story of one answer: what is random, and what is not.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5500" y="2413000"/>
            <a:ext cx="609600" cy="609600"/>
          </a:xfrm>
          <a:prstGeom prst="ellipse">
            <a:avLst/>
          </a:prstGeom>
          <a:solidFill>
            <a:srgbClr val="161C2A"/>
          </a:solidFill>
          <a:ln w="19050">
            <a:solidFill>
              <a:srgbClr val="75CEF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51000" y="2438400"/>
            <a:ext cx="7175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the story. Do 1,000 of its answers look like the real ones?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5500" y="3492500"/>
            <a:ext cx="609600" cy="609600"/>
          </a:xfrm>
          <a:prstGeom prst="ellipse">
            <a:avLst/>
          </a:prstGeom>
          <a:solidFill>
            <a:srgbClr val="161C2A"/>
          </a:solidFill>
          <a:ln w="19050">
            <a:solidFill>
              <a:srgbClr val="FF7FF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651000" y="3517900"/>
            <a:ext cx="7175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the question: how many people really support Palpatine?</a:t>
            </a:r>
            <a:endParaRPr lang="en-US" sz="2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10795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would you model this?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35000" y="1079500"/>
            <a:ext cx="6731000" cy="495300"/>
          </a:xfrm>
          <a:prstGeom prst="roundRect">
            <a:avLst>
              <a:gd name="adj" fmla="val 75740"/>
            </a:avLst>
          </a:prstGeom>
          <a:solidFill>
            <a:srgbClr val="161C2A"/>
          </a:solidFill>
          <a:ln w="12700">
            <a:solidFill>
              <a:srgbClr val="3642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5500" y="11684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like surprises?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5000" y="1689100"/>
            <a:ext cx="6731000" cy="495300"/>
          </a:xfrm>
          <a:prstGeom prst="roundRect">
            <a:avLst>
              <a:gd name="adj" fmla="val 75740"/>
            </a:avLst>
          </a:prstGeom>
          <a:solidFill>
            <a:srgbClr val="161C2A"/>
          </a:solidFill>
          <a:ln w="12700">
            <a:solidFill>
              <a:srgbClr val="3642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5500" y="17780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like the beach more than the mountains?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5000" y="2298700"/>
            <a:ext cx="6731000" cy="495300"/>
          </a:xfrm>
          <a:prstGeom prst="roundRect">
            <a:avLst>
              <a:gd name="adj" fmla="val 75740"/>
            </a:avLst>
          </a:prstGeom>
          <a:solidFill>
            <a:srgbClr val="161C2A"/>
          </a:solidFill>
          <a:ln w="12700">
            <a:solidFill>
              <a:srgbClr val="3642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5500" y="23876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like paper books more than e-books?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5000" y="2908300"/>
            <a:ext cx="6731000" cy="495300"/>
          </a:xfrm>
          <a:prstGeom prst="roundRect">
            <a:avLst>
              <a:gd name="adj" fmla="val 75740"/>
            </a:avLst>
          </a:prstGeom>
          <a:solidFill>
            <a:srgbClr val="161C2A"/>
          </a:solidFill>
          <a:ln w="12700">
            <a:solidFill>
              <a:srgbClr val="3642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5500" y="29972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 you rather have more time than more money?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5000" y="3517900"/>
            <a:ext cx="6731000" cy="495300"/>
          </a:xfrm>
          <a:prstGeom prst="roundRect">
            <a:avLst>
              <a:gd name="adj" fmla="val 75740"/>
            </a:avLst>
          </a:prstGeom>
          <a:solidFill>
            <a:srgbClr val="161C2A"/>
          </a:solidFill>
          <a:ln w="12700">
            <a:solidFill>
              <a:srgbClr val="3642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5500" y="36068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like holidays at home more than abroad?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5000" y="4127500"/>
            <a:ext cx="6731000" cy="495300"/>
          </a:xfrm>
          <a:prstGeom prst="roundRect">
            <a:avLst>
              <a:gd name="adj" fmla="val 75740"/>
            </a:avLst>
          </a:prstGeom>
          <a:solidFill>
            <a:srgbClr val="2A1430"/>
          </a:solidFill>
          <a:ln w="19050">
            <a:solidFill>
              <a:srgbClr val="FF7FF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5500" y="42164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 </a:t>
            </a:r>
            <a:pPr indent="0" marL="0">
              <a:buNone/>
            </a:pPr>
            <a:r>
              <a:rPr lang="en-US" sz="20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support Palpatine?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191500" y="2222500"/>
            <a:ext cx="1778000" cy="1778000"/>
          </a:xfrm>
          <a:prstGeom prst="ellipse">
            <a:avLst/>
          </a:prstGeom>
          <a:solidFill>
            <a:srgbClr val="161C2A"/>
          </a:solidFill>
          <a:ln w="25400">
            <a:solidFill>
              <a:srgbClr val="75CEF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0" dirty="0"/>
          </a:p>
        </p:txBody>
      </p:sp>
      <p:sp>
        <p:nvSpPr>
          <p:cNvPr id="16" name="Text 14"/>
          <p:cNvSpPr/>
          <p:nvPr/>
        </p:nvSpPr>
        <p:spPr>
          <a:xfrm>
            <a:off x="7556500" y="41910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 </a:t>
            </a:r>
            <a:pPr indent="0" marL="0">
              <a:buNone/>
            </a:pPr>
            <a:r>
              <a:rPr lang="en-US" sz="24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many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are yes. Not which ones.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5000" y="590550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94A3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harmless questions, each about 50/50. Your answer is just a number.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solidFill>
              <a:srgbClr val="80808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Assignment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runs on the web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solidFill>
              <a:srgbClr val="80808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Assignment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runs on the web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solidFill>
              <a:srgbClr val="80808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Assignment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runs on the web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solidFill>
              <a:srgbClr val="80808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Assignment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runs on the web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solidFill>
              <a:srgbClr val="80808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Assignment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runs on the web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solidFill>
              <a:srgbClr val="80808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Assignment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runs on the web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solidFill>
              <a:srgbClr val="80808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Assignment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runs on the web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solidFill>
              <a:srgbClr val="80808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Assignment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runs on the web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794000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[if extra time]</a:t>
            </a:r>
            <a:endParaRPr lang="en-US" sz="4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7050" y="317500"/>
            <a:ext cx="8966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Is anyone's secret out?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20700" y="1314450"/>
            <a:ext cx="8362950" cy="25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7050" y="16192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endParaRPr lang="en-US" sz="2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7050" y="317500"/>
            <a:ext cx="8966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Is anyone's secret out?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20700" y="1314450"/>
            <a:ext cx="8362950" cy="25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7050" y="16192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8200" y="2190750"/>
            <a:ext cx="8966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answer of </a:t>
            </a:r>
            <a:pPr indent="0" marL="0">
              <a:buNone/>
            </a:pPr>
            <a:r>
              <a:rPr lang="en-US" sz="26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means yes to everything, Palpatine too.</a:t>
            </a:r>
            <a:endParaRPr lang="en-US" sz="2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7050" y="317500"/>
            <a:ext cx="8966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Is anyone's secret out?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20700" y="1314450"/>
            <a:ext cx="8362950" cy="25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7050" y="16192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8200" y="2190750"/>
            <a:ext cx="8966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answer of </a:t>
            </a:r>
            <a:pPr indent="0" marL="0">
              <a:buNone/>
            </a:pPr>
            <a:r>
              <a:rPr lang="en-US" sz="26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means yes to everything, Palpatine too.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9848" y="2838913"/>
            <a:ext cx="6226704" cy="7991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200" y="3670300"/>
            <a:ext cx="9207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4A3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(½)⁵ means ½ multiplied by itself 5 times: ½ × ½ × ½ × ½ × ½ = 1/32.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7050" y="317500"/>
            <a:ext cx="8966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Is anyone's secret out?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20700" y="1314450"/>
            <a:ext cx="8362950" cy="25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7050" y="16192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8200" y="2190750"/>
            <a:ext cx="8966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answer of </a:t>
            </a:r>
            <a:pPr indent="0" marL="0">
              <a:buNone/>
            </a:pPr>
            <a:r>
              <a:rPr lang="en-US" sz="26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means yes to everything, Palpatine too.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9848" y="2838913"/>
            <a:ext cx="6226704" cy="7991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200" y="4127500"/>
            <a:ext cx="9207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3 people in 1,000 give themselves away.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38200" y="3670300"/>
            <a:ext cx="9207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4A3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(½)⁵ means ½ multiplied by itself 5 times: ½ × ½ × ½ × ½ × ½ = 1/32.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7050" y="317500"/>
            <a:ext cx="8966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Is anyone's secret out?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20700" y="1314450"/>
            <a:ext cx="8362950" cy="25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7050" y="16192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8200" y="2190750"/>
            <a:ext cx="8966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answer of </a:t>
            </a:r>
            <a:pPr indent="0" marL="0">
              <a:buNone/>
            </a:pPr>
            <a:r>
              <a:rPr lang="en-US" sz="26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means yes to everything, Palpatine too.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9848" y="2838913"/>
            <a:ext cx="6226704" cy="7991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200" y="4127500"/>
            <a:ext cx="9207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3 people in 1,000 give themselves away.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27050" y="501650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would you protect them?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38200" y="3670300"/>
            <a:ext cx="9207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4A3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(½)⁵ means ½ multiplied by itself 5 times: ½ × ½ × ½ × ½ × ½ = 1/32.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7050" y="317500"/>
            <a:ext cx="8966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Is anyone's secret out?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20700" y="1314450"/>
            <a:ext cx="8362950" cy="25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7050" y="16192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endParaRPr lang="en-US" sz="2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7050" y="317500"/>
            <a:ext cx="8966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Is anyone's secret out?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20700" y="1314450"/>
            <a:ext cx="8362950" cy="25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7050" y="16192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8200" y="2190750"/>
            <a:ext cx="8966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answer of </a:t>
            </a:r>
            <a:pPr indent="0" marL="0">
              <a:buNone/>
            </a:pPr>
            <a:r>
              <a:rPr lang="en-US" sz="26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means no to everything, Palpatine too: the dangerous answer.</a:t>
            </a:r>
            <a:endParaRPr lang="en-US" sz="2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7050" y="317500"/>
            <a:ext cx="8966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Is anyone's secret out?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20700" y="1314450"/>
            <a:ext cx="8362950" cy="25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7050" y="16192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8200" y="2190750"/>
            <a:ext cx="8966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answer of </a:t>
            </a:r>
            <a:pPr indent="0" marL="0">
              <a:buNone/>
            </a:pPr>
            <a:r>
              <a:rPr lang="en-US" sz="26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means no to everything, Palpatine too: the dangerous answer.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6857" y="2838913"/>
            <a:ext cx="7092686" cy="7991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200" y="3670300"/>
            <a:ext cx="9207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4A3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(½)⁵ means ½ multiplied by itself 5 times: ½ × ½ × ½ × ½ × ½ = 1/32.</a:t>
            </a:r>
            <a:endParaRPr lang="en-US" sz="1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7050" y="317500"/>
            <a:ext cx="8966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Is anyone's secret out?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20700" y="1314450"/>
            <a:ext cx="8362950" cy="25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7050" y="16192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8200" y="2190750"/>
            <a:ext cx="8966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answer of </a:t>
            </a:r>
            <a:pPr indent="0" marL="0">
              <a:buNone/>
            </a:pPr>
            <a:r>
              <a:rPr lang="en-US" sz="26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means no to everything, Palpatine too: the dangerous answer.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6857" y="2838913"/>
            <a:ext cx="7092686" cy="7991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200" y="4127500"/>
            <a:ext cx="9207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28 people in 1,000 would give themselves away.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38200" y="3670300"/>
            <a:ext cx="9207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4A3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(½)⁵ means ½ multiplied by itself 5 times: ½ × ½ × ½ × ½ × ½ = 1/32.</a:t>
            </a:r>
            <a:endParaRPr lang="en-US" sz="1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7050" y="317500"/>
            <a:ext cx="8966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Is anyone's secret out?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20700" y="1314450"/>
            <a:ext cx="8362950" cy="25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7050" y="16192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8200" y="2190750"/>
            <a:ext cx="8966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answer of </a:t>
            </a:r>
            <a:pPr indent="0" marL="0">
              <a:buNone/>
            </a:pPr>
            <a:r>
              <a:rPr lang="en-US" sz="2600" b="1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means no to everything, Palpatine too: the dangerous answer.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6857" y="2838913"/>
            <a:ext cx="7092686" cy="7991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200" y="4127500"/>
            <a:ext cx="9207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28 people in 1,000 would give themselves away.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27050" y="501650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would you protect them?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38200" y="3670300"/>
            <a:ext cx="9207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4A3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(½)⁵ means ½ multiplied by itself 5 times: ½ × ½ × ½ × ½ × ½ = 1/32.</a:t>
            </a:r>
            <a:endParaRPr lang="en-US" sz="1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10795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the harmless questions are too easy?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8000" y="10795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almost everyone says yes to each harmless question: 9 in 10.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8000" y="21590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 the five harmless answers land?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445000" y="1206500"/>
            <a:ext cx="4445000" cy="4445000"/>
          </a:xfrm>
          <a:prstGeom prst="rect">
            <a:avLst/>
          </a:prstGeom>
          <a:ln w="12700">
            <a:solidFill>
              <a:srgbClr val="80808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Galton Board Demo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runs on the web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0" y="551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581650" y="551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134100" y="551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92900" y="551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245350" y="551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97800" y="551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45000" y="5842000"/>
            <a:ext cx="444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4A3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harmless yeses</a:t>
            </a:r>
            <a:endParaRPr lang="en-US" sz="17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10795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the harmless questions are too easy?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8000" y="10795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almost everyone says yes to each harmless question: 9 in 10.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8000" y="21590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 the five harmless answers land?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445000" y="1206500"/>
            <a:ext cx="4445000" cy="4445000"/>
          </a:xfrm>
          <a:prstGeom prst="rect">
            <a:avLst/>
          </a:prstGeom>
          <a:ln w="12700">
            <a:solidFill>
              <a:srgbClr val="80808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Galton Board Demo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runs on the web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0" y="551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581650" y="551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134100" y="551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92900" y="551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245350" y="551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97800" y="551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45000" y="5842000"/>
            <a:ext cx="444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4A3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harmless yeses</a:t>
            </a:r>
            <a:endParaRPr lang="en-US" sz="17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10795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the harmless questions are too easy?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8000" y="10795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almost everyone says yes to each harmless question: 9 in 10.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8000" y="21590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 the five harmless answers land?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445000" y="1206500"/>
            <a:ext cx="4445000" cy="4445000"/>
          </a:xfrm>
          <a:prstGeom prst="rect">
            <a:avLst/>
          </a:prstGeom>
          <a:ln w="12700">
            <a:solidFill>
              <a:srgbClr val="80808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Galton Board Demo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runs on the web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0" y="551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581650" y="551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134100" y="551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92900" y="551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245350" y="551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97800" y="551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45000" y="5842000"/>
            <a:ext cx="444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4A3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harmless yeses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8000" y="3302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people say 4 or 5. Add a supporter's secret yes, and a 6 is common.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080500" y="2032000"/>
            <a:ext cx="2984500" cy="4191000"/>
          </a:xfrm>
          <a:prstGeom prst="rect">
            <a:avLst/>
          </a:prstGeom>
          <a:ln w="12700">
            <a:solidFill>
              <a:srgbClr val="80808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Binomial Calculator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runs on the web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10795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the harmless questions are too easy?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8000" y="10795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almost everyone says yes to each harmless question: 9 in 10.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8000" y="21590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 the five harmless answers land?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445000" y="1206500"/>
            <a:ext cx="4445000" cy="4445000"/>
          </a:xfrm>
          <a:prstGeom prst="rect">
            <a:avLst/>
          </a:prstGeom>
          <a:ln w="12700">
            <a:solidFill>
              <a:srgbClr val="80808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Galton Board Demo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runs on the web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0" y="551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581650" y="551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134100" y="551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92900" y="551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245350" y="551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97800" y="551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45000" y="5842000"/>
            <a:ext cx="444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4A3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harmless yeses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8000" y="3302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people say 4 or 5. Add a supporter's secret yes, and a 6 is common.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8000" y="44450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5 in 100 answers give someone away.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080500" y="2032000"/>
            <a:ext cx="2984500" cy="4191000"/>
          </a:xfrm>
          <a:prstGeom prst="rect">
            <a:avLst/>
          </a:prstGeom>
          <a:ln w="12700">
            <a:solidFill>
              <a:srgbClr val="80808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Binomial Calculator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runs on the web</a:t>
            </a:r>
            <a:endParaRPr lang="en-US" sz="1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10795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the harmless questions are too easy?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8000" y="10795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almost everyone says yes to each harmless question: 9 in 10.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8000" y="21590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 the five harmless answers land?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445000" y="1206500"/>
            <a:ext cx="4445000" cy="4445000"/>
          </a:xfrm>
          <a:prstGeom prst="rect">
            <a:avLst/>
          </a:prstGeom>
          <a:ln w="12700">
            <a:solidFill>
              <a:srgbClr val="80808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Galton Board Demo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runs on the web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0" y="551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581650" y="551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134100" y="551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92900" y="551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245350" y="551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97800" y="55118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45000" y="5842000"/>
            <a:ext cx="444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4A3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harmless yeses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8000" y="3302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people say 4 or 5. Add a supporter's secret yes, and a 6 is common.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8000" y="44450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7F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5 in 100 answers give someone away.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8000" y="5397500"/>
            <a:ext cx="381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75CE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harmless questions near 50/50.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080500" y="2032000"/>
            <a:ext cx="2984500" cy="4191000"/>
          </a:xfrm>
          <a:prstGeom prst="rect">
            <a:avLst/>
          </a:prstGeom>
          <a:ln w="12700">
            <a:solidFill>
              <a:srgbClr val="80808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Binomial Calculator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runs on the web</a:t>
            </a:r>
            <a:endParaRPr lang="en-US" sz="1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945" y="2253447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[Build the model from scratch]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2301241" y="4044616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Warning: This feature is in Beta</a:t>
            </a:r>
            <a:endParaRPr lang="en-US" sz="44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solidFill>
              <a:srgbClr val="80808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Assignment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runs on the web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Section 2 (my copy)</dc:title>
  <dc:subject>PptxGenJS Presentation</dc:subject>
  <dc:creator>PptxGenJS</dc:creator>
  <cp:lastModifiedBy>PptxGenJS</cp:lastModifiedBy>
  <cp:revision>1</cp:revision>
  <dcterms:created xsi:type="dcterms:W3CDTF">2026-10-21T07:05:31Z</dcterms:created>
  <dcterms:modified xsi:type="dcterms:W3CDTF">2026-10-21T07:05:31Z</dcterms:modified>
</cp:coreProperties>
</file>